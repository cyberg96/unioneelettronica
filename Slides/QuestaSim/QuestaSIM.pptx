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6" r:id="rId12"/>
    <p:sldId id="267" r:id="rId13"/>
    <p:sldId id="268" r:id="rId14"/>
    <p:sldId id="270" r:id="rId15"/>
    <p:sldId id="271" r:id="rId16"/>
    <p:sldId id="273" r:id="rId17"/>
    <p:sldId id="275" r:id="rId18"/>
    <p:sldId id="274" r:id="rId19"/>
    <p:sldId id="272" r:id="rId20"/>
    <p:sldId id="277" r:id="rId21"/>
    <p:sldId id="279" r:id="rId2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97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266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9864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777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8262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0442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818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616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667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18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468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1320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53308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1288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3842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4772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1485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2C797A7-EA86-43BE-AB69-4756E28F837B}" type="datetimeFigureOut">
              <a:rPr lang="it-IT" smtClean="0"/>
              <a:t>26/07/2025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7E1EC6-2D4C-4867-837C-0587F02EB85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99955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  <p:pic>
        <p:nvPicPr>
          <p:cNvPr id="1030" name="Picture 6" descr="Pin on vls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6473" y="1276155"/>
            <a:ext cx="3255530" cy="4128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5644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/>
          <a:lstStyle/>
          <a:p>
            <a:pPr algn="ctr"/>
            <a:r>
              <a:rPr lang="it-IT" dirty="0" err="1"/>
              <a:t>What’s</a:t>
            </a:r>
            <a:r>
              <a:rPr lang="it-IT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691" y="2272145"/>
            <a:ext cx="10460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Questa SIM is a verification and simulation tool for VHDL, Verilog, </a:t>
            </a:r>
            <a:r>
              <a:rPr lang="en-US" dirty="0" err="1"/>
              <a:t>SystemVerilog</a:t>
            </a:r>
            <a:r>
              <a:rPr lang="en-US" dirty="0"/>
              <a:t>, </a:t>
            </a:r>
            <a:r>
              <a:rPr lang="en-US" dirty="0" err="1"/>
              <a:t>SystemC</a:t>
            </a:r>
            <a:r>
              <a:rPr lang="en-US" dirty="0"/>
              <a:t>, and mixed-language designs. By default, Questa SIM optimizations are automatically performed on all designs.</a:t>
            </a:r>
          </a:p>
          <a:p>
            <a:pPr algn="just"/>
            <a:r>
              <a:rPr lang="en-US" dirty="0"/>
              <a:t>Questa SIM Code Coverage gives you graphical and report file feedback on which executable statements, branches, conditions, and expressions in your source code have been executed.</a:t>
            </a:r>
            <a:endParaRPr lang="it-IT" dirty="0"/>
          </a:p>
        </p:txBody>
      </p:sp>
      <p:sp>
        <p:nvSpPr>
          <p:cNvPr id="6" name="TextBox 5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272945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/>
          <a:lstStyle/>
          <a:p>
            <a:pPr algn="ctr"/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dirty="0" err="1"/>
              <a:t>Fulladder</a:t>
            </a:r>
            <a:endParaRPr lang="it-IT" dirty="0"/>
          </a:p>
        </p:txBody>
      </p:sp>
      <p:pic>
        <p:nvPicPr>
          <p:cNvPr id="2050" name="Picture 2" descr="File:Full-adder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713" y="2316073"/>
            <a:ext cx="5238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1462930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/>
          <a:lstStyle/>
          <a:p>
            <a:pPr algn="ctr"/>
            <a:r>
              <a:rPr lang="it-IT" dirty="0"/>
              <a:t>VHDL Code </a:t>
            </a:r>
            <a:r>
              <a:rPr lang="it-IT" dirty="0" err="1"/>
              <a:t>FUlladder</a:t>
            </a:r>
            <a:endParaRPr lang="it-IT" dirty="0"/>
          </a:p>
        </p:txBody>
      </p:sp>
      <p:pic>
        <p:nvPicPr>
          <p:cNvPr id="2050" name="Picture 2" descr="File:Full-adder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925" y="2510037"/>
            <a:ext cx="5238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831273" y="1995055"/>
            <a:ext cx="5126182" cy="4156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sp>
        <p:nvSpPr>
          <p:cNvPr id="48" name="TextBox 47"/>
          <p:cNvSpPr txBox="1"/>
          <p:nvPr/>
        </p:nvSpPr>
        <p:spPr>
          <a:xfrm>
            <a:off x="670358" y="1776255"/>
            <a:ext cx="45165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Library IEEE;</a:t>
            </a:r>
          </a:p>
          <a:p>
            <a:r>
              <a:rPr lang="it-IT" dirty="0"/>
              <a:t>Use IEEE.std_logic_1164.all;</a:t>
            </a:r>
          </a:p>
          <a:p>
            <a:endParaRPr lang="it-IT" dirty="0"/>
          </a:p>
          <a:p>
            <a:r>
              <a:rPr lang="it-IT" dirty="0" err="1"/>
              <a:t>Entity</a:t>
            </a:r>
            <a:r>
              <a:rPr lang="it-IT" dirty="0"/>
              <a:t> </a:t>
            </a:r>
            <a:r>
              <a:rPr lang="it-IT" dirty="0" err="1"/>
              <a:t>FullAdder</a:t>
            </a:r>
            <a:r>
              <a:rPr lang="it-IT" dirty="0"/>
              <a:t> </a:t>
            </a:r>
            <a:r>
              <a:rPr lang="it-IT" dirty="0" err="1"/>
              <a:t>is</a:t>
            </a:r>
            <a:endParaRPr lang="it-IT" dirty="0"/>
          </a:p>
          <a:p>
            <a:r>
              <a:rPr lang="it-IT" dirty="0"/>
              <a:t>Port (</a:t>
            </a:r>
          </a:p>
          <a:p>
            <a:r>
              <a:rPr lang="it-IT" dirty="0"/>
              <a:t>A, B, Cin : in </a:t>
            </a:r>
            <a:r>
              <a:rPr lang="it-IT" dirty="0" err="1"/>
              <a:t>std_logic</a:t>
            </a:r>
            <a:r>
              <a:rPr lang="it-IT" dirty="0"/>
              <a:t>;</a:t>
            </a:r>
          </a:p>
          <a:p>
            <a:r>
              <a:rPr lang="it-IT" dirty="0"/>
              <a:t>S, </a:t>
            </a:r>
            <a:r>
              <a:rPr lang="it-IT" dirty="0" err="1"/>
              <a:t>Cout</a:t>
            </a:r>
            <a:r>
              <a:rPr lang="it-IT" dirty="0"/>
              <a:t> : out </a:t>
            </a:r>
            <a:r>
              <a:rPr lang="it-IT" dirty="0" err="1"/>
              <a:t>std_logic</a:t>
            </a:r>
            <a:r>
              <a:rPr lang="it-IT" dirty="0"/>
              <a:t> );</a:t>
            </a:r>
          </a:p>
          <a:p>
            <a:r>
              <a:rPr lang="it-IT" dirty="0"/>
              <a:t>End </a:t>
            </a:r>
            <a:r>
              <a:rPr lang="it-IT" dirty="0" err="1"/>
              <a:t>FullAdder</a:t>
            </a:r>
            <a:r>
              <a:rPr lang="it-IT" dirty="0"/>
              <a:t>;</a:t>
            </a:r>
          </a:p>
          <a:p>
            <a:endParaRPr lang="it-IT" dirty="0"/>
          </a:p>
          <a:p>
            <a:r>
              <a:rPr lang="it-IT" dirty="0"/>
              <a:t>Architecture </a:t>
            </a:r>
            <a:r>
              <a:rPr lang="it-IT" dirty="0" err="1"/>
              <a:t>bev</a:t>
            </a:r>
            <a:r>
              <a:rPr lang="it-IT" dirty="0"/>
              <a:t> of </a:t>
            </a:r>
            <a:r>
              <a:rPr lang="it-IT" dirty="0" err="1"/>
              <a:t>FullAdder</a:t>
            </a:r>
            <a:r>
              <a:rPr lang="it-IT" dirty="0"/>
              <a:t> </a:t>
            </a:r>
            <a:r>
              <a:rPr lang="it-IT" dirty="0" err="1"/>
              <a:t>is</a:t>
            </a:r>
            <a:endParaRPr lang="it-IT" dirty="0"/>
          </a:p>
          <a:p>
            <a:r>
              <a:rPr lang="it-IT" dirty="0" err="1"/>
              <a:t>begin</a:t>
            </a:r>
            <a:endParaRPr lang="it-IT" dirty="0"/>
          </a:p>
          <a:p>
            <a:r>
              <a:rPr lang="it-IT" dirty="0"/>
              <a:t>S &lt;= A </a:t>
            </a:r>
            <a:r>
              <a:rPr lang="it-IT" dirty="0" err="1"/>
              <a:t>xor</a:t>
            </a:r>
            <a:r>
              <a:rPr lang="it-IT" dirty="0"/>
              <a:t> B </a:t>
            </a:r>
            <a:r>
              <a:rPr lang="it-IT" dirty="0" err="1"/>
              <a:t>xor</a:t>
            </a:r>
            <a:r>
              <a:rPr lang="it-IT" dirty="0"/>
              <a:t> Cin;</a:t>
            </a:r>
          </a:p>
          <a:p>
            <a:r>
              <a:rPr lang="it-IT" dirty="0" err="1"/>
              <a:t>Cout</a:t>
            </a:r>
            <a:r>
              <a:rPr lang="it-IT" dirty="0"/>
              <a:t> &lt;= (A and B) or ((A </a:t>
            </a:r>
            <a:r>
              <a:rPr lang="it-IT" dirty="0" err="1"/>
              <a:t>xor</a:t>
            </a:r>
            <a:r>
              <a:rPr lang="it-IT" dirty="0"/>
              <a:t> B) and Cin); </a:t>
            </a:r>
          </a:p>
          <a:p>
            <a:r>
              <a:rPr lang="it-IT" dirty="0"/>
              <a:t>--</a:t>
            </a:r>
            <a:r>
              <a:rPr lang="it-IT" dirty="0" err="1"/>
              <a:t>Cout</a:t>
            </a:r>
            <a:r>
              <a:rPr lang="it-IT" dirty="0"/>
              <a:t> &lt;= (A </a:t>
            </a:r>
            <a:r>
              <a:rPr lang="it-IT" dirty="0" err="1"/>
              <a:t>nand</a:t>
            </a:r>
            <a:r>
              <a:rPr lang="it-IT"/>
              <a:t> B) </a:t>
            </a:r>
            <a:r>
              <a:rPr lang="it-IT" dirty="0" err="1"/>
              <a:t>nand</a:t>
            </a:r>
            <a:r>
              <a:rPr lang="it-IT" dirty="0"/>
              <a:t> (C </a:t>
            </a:r>
            <a:r>
              <a:rPr lang="it-IT" dirty="0" err="1"/>
              <a:t>nand</a:t>
            </a:r>
            <a:r>
              <a:rPr lang="it-IT" dirty="0"/>
              <a:t> (A </a:t>
            </a:r>
            <a:r>
              <a:rPr lang="it-IT" dirty="0" err="1"/>
              <a:t>xor</a:t>
            </a:r>
            <a:r>
              <a:rPr lang="it-IT" dirty="0"/>
              <a:t> B)); --</a:t>
            </a:r>
            <a:r>
              <a:rPr lang="it-IT" dirty="0" err="1"/>
              <a:t>DeMorgan</a:t>
            </a:r>
            <a:endParaRPr lang="it-IT" dirty="0"/>
          </a:p>
          <a:p>
            <a:r>
              <a:rPr lang="it-IT" dirty="0"/>
              <a:t>End </a:t>
            </a:r>
            <a:r>
              <a:rPr lang="it-IT" dirty="0" err="1"/>
              <a:t>bev</a:t>
            </a:r>
            <a:r>
              <a:rPr lang="it-IT" dirty="0"/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145399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/>
          <a:lstStyle/>
          <a:p>
            <a:pPr algn="ctr"/>
            <a:r>
              <a:rPr lang="it-IT" dirty="0"/>
              <a:t>New </a:t>
            </a:r>
            <a:r>
              <a:rPr lang="it-IT" dirty="0" err="1"/>
              <a:t>project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433" y="2316073"/>
            <a:ext cx="10484522" cy="42905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8473" y="1700314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File/New -&gt;Project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90364" y="167450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185310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/>
          <a:lstStyle/>
          <a:p>
            <a:pPr algn="ctr"/>
            <a:r>
              <a:rPr lang="it-IT" dirty="0" err="1"/>
              <a:t>Load</a:t>
            </a:r>
            <a:r>
              <a:rPr lang="it-IT" dirty="0"/>
              <a:t> </a:t>
            </a:r>
            <a:r>
              <a:rPr lang="it-IT" dirty="0" err="1"/>
              <a:t>sources</a:t>
            </a:r>
            <a:r>
              <a:rPr lang="it-IT" dirty="0"/>
              <a:t> file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09" y="1807187"/>
            <a:ext cx="10579719" cy="46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869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Compile </a:t>
            </a:r>
            <a:r>
              <a:rPr lang="it-IT" dirty="0" err="1"/>
              <a:t>all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164" y="2269411"/>
            <a:ext cx="9679173" cy="44286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8473" y="1700314"/>
            <a:ext cx="4782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vcom</a:t>
            </a:r>
            <a:r>
              <a:rPr lang="it-IT" dirty="0"/>
              <a:t> –work «</a:t>
            </a:r>
            <a:r>
              <a:rPr lang="it-IT" dirty="0" err="1"/>
              <a:t>file.vhd</a:t>
            </a:r>
            <a:r>
              <a:rPr lang="it-IT" dirty="0"/>
              <a:t>»     for VHDL </a:t>
            </a:r>
            <a:r>
              <a:rPr lang="it-IT" dirty="0" err="1"/>
              <a:t>sources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492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optimize</a:t>
            </a:r>
            <a:endParaRPr lang="it-IT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546" y="2182050"/>
            <a:ext cx="8612374" cy="44196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8473" y="1700314"/>
            <a:ext cx="6389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vopt</a:t>
            </a:r>
            <a:r>
              <a:rPr lang="it-IT" dirty="0"/>
              <a:t> +</a:t>
            </a:r>
            <a:r>
              <a:rPr lang="it-IT" dirty="0" err="1"/>
              <a:t>acc</a:t>
            </a:r>
            <a:r>
              <a:rPr lang="it-IT" dirty="0"/>
              <a:t> «</a:t>
            </a:r>
            <a:r>
              <a:rPr lang="it-IT" dirty="0" err="1"/>
              <a:t>name</a:t>
            </a:r>
            <a:r>
              <a:rPr lang="it-IT" dirty="0"/>
              <a:t> </a:t>
            </a:r>
            <a:r>
              <a:rPr lang="it-IT" dirty="0" err="1"/>
              <a:t>testbench</a:t>
            </a:r>
            <a:r>
              <a:rPr lang="it-IT" dirty="0"/>
              <a:t>» –o «</a:t>
            </a:r>
            <a:r>
              <a:rPr lang="it-IT" dirty="0" err="1"/>
              <a:t>name</a:t>
            </a:r>
            <a:r>
              <a:rPr lang="it-IT" dirty="0"/>
              <a:t> </a:t>
            </a:r>
            <a:r>
              <a:rPr lang="it-IT" dirty="0" err="1"/>
              <a:t>testbench</a:t>
            </a:r>
            <a:r>
              <a:rPr lang="it-IT" dirty="0"/>
              <a:t> </a:t>
            </a:r>
            <a:r>
              <a:rPr lang="it-IT" dirty="0" err="1"/>
              <a:t>opt</a:t>
            </a:r>
            <a:r>
              <a:rPr lang="it-IT" dirty="0"/>
              <a:t>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74920" y="6232392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2214571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 err="1"/>
              <a:t>Simulation</a:t>
            </a:r>
            <a:r>
              <a:rPr lang="it-IT" dirty="0"/>
              <a:t> &amp; </a:t>
            </a:r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wave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8327"/>
          <a:stretch/>
        </p:blipFill>
        <p:spPr>
          <a:xfrm>
            <a:off x="1828799" y="2140820"/>
            <a:ext cx="8903320" cy="45757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7418" y="1700314"/>
            <a:ext cx="3241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vsim</a:t>
            </a:r>
            <a:r>
              <a:rPr lang="it-IT" dirty="0"/>
              <a:t> «</a:t>
            </a:r>
            <a:r>
              <a:rPr lang="it-IT" dirty="0" err="1"/>
              <a:t>name</a:t>
            </a:r>
            <a:r>
              <a:rPr lang="it-IT" dirty="0"/>
              <a:t> </a:t>
            </a:r>
            <a:r>
              <a:rPr lang="it-IT" dirty="0" err="1"/>
              <a:t>testbench</a:t>
            </a:r>
            <a:r>
              <a:rPr lang="it-IT" dirty="0"/>
              <a:t> </a:t>
            </a:r>
            <a:r>
              <a:rPr lang="it-IT" dirty="0" err="1"/>
              <a:t>opt</a:t>
            </a:r>
            <a:r>
              <a:rPr lang="it-IT" dirty="0"/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1244463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Tb</a:t>
            </a:r>
            <a:r>
              <a:rPr lang="it-IT" dirty="0"/>
              <a:t> </a:t>
            </a:r>
            <a:r>
              <a:rPr lang="it-IT" dirty="0" err="1"/>
              <a:t>waveform</a:t>
            </a:r>
            <a:endParaRPr lang="it-IT" dirty="0"/>
          </a:p>
        </p:txBody>
      </p:sp>
      <p:sp>
        <p:nvSpPr>
          <p:cNvPr id="6" name="TextBox 5"/>
          <p:cNvSpPr txBox="1"/>
          <p:nvPr/>
        </p:nvSpPr>
        <p:spPr>
          <a:xfrm>
            <a:off x="817418" y="1700314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run</a:t>
            </a:r>
            <a:r>
              <a:rPr lang="it-IT" dirty="0"/>
              <a:t> 600 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009" y="2269411"/>
            <a:ext cx="8529247" cy="44144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95716" y="1615531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2337796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Coverage</a:t>
            </a:r>
            <a:r>
              <a:rPr lang="it-IT" dirty="0"/>
              <a:t> </a:t>
            </a:r>
            <a:r>
              <a:rPr lang="it-IT" dirty="0" err="1"/>
              <a:t>typeS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153" y="2190577"/>
            <a:ext cx="7125694" cy="24768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3428847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Coverage</a:t>
            </a:r>
            <a:endParaRPr lang="it-IT" dirty="0"/>
          </a:p>
        </p:txBody>
      </p:sp>
      <p:sp>
        <p:nvSpPr>
          <p:cNvPr id="6" name="TextBox 5"/>
          <p:cNvSpPr txBox="1"/>
          <p:nvPr/>
        </p:nvSpPr>
        <p:spPr>
          <a:xfrm>
            <a:off x="817418" y="1700314"/>
            <a:ext cx="68547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vopt</a:t>
            </a:r>
            <a:r>
              <a:rPr lang="it-IT" dirty="0"/>
              <a:t> +cover=</a:t>
            </a:r>
            <a:r>
              <a:rPr lang="it-IT" dirty="0" err="1"/>
              <a:t>bcesxf</a:t>
            </a:r>
            <a:r>
              <a:rPr lang="it-IT" dirty="0"/>
              <a:t> «</a:t>
            </a:r>
            <a:r>
              <a:rPr lang="it-IT" dirty="0" err="1"/>
              <a:t>name</a:t>
            </a:r>
            <a:r>
              <a:rPr lang="it-IT" dirty="0"/>
              <a:t> test» –o «</a:t>
            </a:r>
            <a:r>
              <a:rPr lang="it-IT" dirty="0" err="1"/>
              <a:t>name</a:t>
            </a:r>
            <a:r>
              <a:rPr lang="it-IT" dirty="0"/>
              <a:t> test </a:t>
            </a:r>
            <a:r>
              <a:rPr lang="it-IT" dirty="0" err="1"/>
              <a:t>opt</a:t>
            </a:r>
            <a:r>
              <a:rPr lang="it-IT" dirty="0"/>
              <a:t> for </a:t>
            </a:r>
            <a:r>
              <a:rPr lang="it-IT" dirty="0" err="1"/>
              <a:t>cov</a:t>
            </a:r>
            <a:r>
              <a:rPr lang="it-IT" dirty="0"/>
              <a:t>»</a:t>
            </a:r>
          </a:p>
          <a:p>
            <a:r>
              <a:rPr lang="it-IT" dirty="0" err="1"/>
              <a:t>vsim</a:t>
            </a:r>
            <a:r>
              <a:rPr lang="it-IT" dirty="0"/>
              <a:t> –</a:t>
            </a:r>
            <a:r>
              <a:rPr lang="it-IT" dirty="0" err="1"/>
              <a:t>coverage</a:t>
            </a:r>
            <a:r>
              <a:rPr lang="it-IT" dirty="0"/>
              <a:t> «</a:t>
            </a:r>
            <a:r>
              <a:rPr lang="it-IT" dirty="0" err="1"/>
              <a:t>name</a:t>
            </a:r>
            <a:r>
              <a:rPr lang="it-IT" dirty="0"/>
              <a:t> test </a:t>
            </a:r>
            <a:r>
              <a:rPr lang="it-IT" dirty="0" err="1"/>
              <a:t>opt</a:t>
            </a:r>
            <a:r>
              <a:rPr lang="it-IT" dirty="0"/>
              <a:t> for </a:t>
            </a:r>
            <a:r>
              <a:rPr lang="it-IT" dirty="0" err="1"/>
              <a:t>cov</a:t>
            </a:r>
            <a:r>
              <a:rPr lang="it-IT" dirty="0"/>
              <a:t>»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992" y="2346645"/>
            <a:ext cx="8058192" cy="4300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3218892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Code </a:t>
            </a:r>
            <a:r>
              <a:rPr lang="it-IT" dirty="0" err="1"/>
              <a:t>coverage</a:t>
            </a:r>
            <a:r>
              <a:rPr lang="it-IT" dirty="0"/>
              <a:t> </a:t>
            </a:r>
            <a:r>
              <a:rPr lang="it-IT" dirty="0" err="1"/>
              <a:t>icons</a:t>
            </a:r>
            <a:endParaRPr lang="it-IT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562" y="1980891"/>
            <a:ext cx="4629796" cy="442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1738971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Code </a:t>
            </a:r>
            <a:r>
              <a:rPr lang="it-IT" dirty="0" err="1"/>
              <a:t>coverage</a:t>
            </a:r>
            <a:r>
              <a:rPr lang="it-IT" dirty="0"/>
              <a:t> 100%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263" y="2231858"/>
            <a:ext cx="8515392" cy="4550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5633" y="1585527"/>
            <a:ext cx="97866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run</a:t>
            </a:r>
            <a:r>
              <a:rPr lang="it-IT" dirty="0"/>
              <a:t> 1 </a:t>
            </a:r>
            <a:r>
              <a:rPr lang="it-IT" dirty="0" err="1"/>
              <a:t>ms</a:t>
            </a:r>
            <a:r>
              <a:rPr lang="it-IT" dirty="0"/>
              <a:t> 	or     </a:t>
            </a:r>
            <a:r>
              <a:rPr lang="it-IT" dirty="0" err="1"/>
              <a:t>you</a:t>
            </a:r>
            <a:r>
              <a:rPr lang="it-IT" dirty="0"/>
              <a:t> can force </a:t>
            </a:r>
            <a:r>
              <a:rPr lang="it-IT" dirty="0" err="1"/>
              <a:t>signal</a:t>
            </a:r>
            <a:r>
              <a:rPr lang="it-IT" dirty="0"/>
              <a:t> state with </a:t>
            </a:r>
            <a:r>
              <a:rPr lang="it-IT" dirty="0" err="1"/>
              <a:t>wave</a:t>
            </a:r>
            <a:r>
              <a:rPr lang="it-IT" dirty="0"/>
              <a:t> editor or by </a:t>
            </a:r>
            <a:r>
              <a:rPr lang="it-IT" dirty="0" err="1"/>
              <a:t>command</a:t>
            </a:r>
            <a:r>
              <a:rPr lang="it-IT" dirty="0"/>
              <a:t> </a:t>
            </a:r>
            <a:r>
              <a:rPr lang="it-IT" dirty="0" err="1"/>
              <a:t>e.g</a:t>
            </a:r>
            <a:r>
              <a:rPr lang="it-IT" dirty="0"/>
              <a:t> </a:t>
            </a:r>
          </a:p>
          <a:p>
            <a:r>
              <a:rPr lang="it-IT" dirty="0"/>
              <a:t>force SW 2#01000001     2# </a:t>
            </a:r>
            <a:r>
              <a:rPr lang="it-IT" dirty="0" err="1"/>
              <a:t>binary</a:t>
            </a:r>
            <a:r>
              <a:rPr lang="it-IT" dirty="0"/>
              <a:t> </a:t>
            </a:r>
            <a:r>
              <a:rPr lang="it-IT" dirty="0" err="1"/>
              <a:t>radix</a:t>
            </a:r>
            <a:endParaRPr lang="it-IT" dirty="0"/>
          </a:p>
        </p:txBody>
      </p:sp>
      <p:sp>
        <p:nvSpPr>
          <p:cNvPr id="8" name="TextBox 7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4099445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Html </a:t>
            </a:r>
            <a:r>
              <a:rPr lang="it-IT" dirty="0" err="1"/>
              <a:t>coverage</a:t>
            </a:r>
            <a:r>
              <a:rPr lang="it-IT" dirty="0"/>
              <a:t> report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636" y="2043838"/>
            <a:ext cx="8612374" cy="46025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75633" y="1585527"/>
            <a:ext cx="3890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Tools/</a:t>
            </a:r>
            <a:r>
              <a:rPr lang="it-IT" dirty="0" err="1"/>
              <a:t>Coverage</a:t>
            </a:r>
            <a:r>
              <a:rPr lang="it-IT" dirty="0"/>
              <a:t> Report -&gt; HTML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36043" y="1445351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1405942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 err="1"/>
              <a:t>Ucdb</a:t>
            </a:r>
            <a:r>
              <a:rPr lang="it-IT" dirty="0"/>
              <a:t> </a:t>
            </a:r>
            <a:r>
              <a:rPr lang="it-IT" dirty="0" err="1"/>
              <a:t>coverage</a:t>
            </a:r>
            <a:r>
              <a:rPr lang="it-IT" dirty="0"/>
              <a:t>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633" y="1585527"/>
            <a:ext cx="3413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coverage</a:t>
            </a:r>
            <a:r>
              <a:rPr lang="it-IT" dirty="0"/>
              <a:t> </a:t>
            </a:r>
            <a:r>
              <a:rPr lang="it-IT" dirty="0" err="1"/>
              <a:t>save</a:t>
            </a:r>
            <a:r>
              <a:rPr lang="it-IT" dirty="0"/>
              <a:t> </a:t>
            </a:r>
            <a:r>
              <a:rPr lang="it-IT" dirty="0" err="1"/>
              <a:t>name.ucdb</a:t>
            </a:r>
            <a:r>
              <a:rPr lang="it-IT" dirty="0"/>
              <a:t>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5633" y="2507673"/>
            <a:ext cx="93905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A database developed by Mentor Graphics for capture of code coverage, functional coverage, and other metrics together in one place for post-regression analysis and reporting. Forms the basis of the UCIS industry standard in development in </a:t>
            </a:r>
            <a:r>
              <a:rPr lang="en-US" dirty="0" err="1"/>
              <a:t>Accellera</a:t>
            </a:r>
            <a:r>
              <a:rPr lang="en-US" dirty="0"/>
              <a:t>.</a:t>
            </a:r>
            <a:endParaRPr lang="it-IT" dirty="0"/>
          </a:p>
        </p:txBody>
      </p:sp>
      <p:sp>
        <p:nvSpPr>
          <p:cNvPr id="9" name="TextBox 8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329236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Assertion</a:t>
            </a:r>
            <a:r>
              <a:rPr lang="it-IT" dirty="0"/>
              <a:t>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16990" t="36837" r="17629" b="6345"/>
          <a:stretch/>
        </p:blipFill>
        <p:spPr>
          <a:xfrm>
            <a:off x="1801091" y="2466108"/>
            <a:ext cx="8506691" cy="4156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13898" y="1700314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5209047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Schematic</a:t>
            </a:r>
            <a:endParaRPr lang="it-IT" dirty="0"/>
          </a:p>
        </p:txBody>
      </p:sp>
      <p:sp>
        <p:nvSpPr>
          <p:cNvPr id="8" name="TextBox 7"/>
          <p:cNvSpPr txBox="1"/>
          <p:nvPr/>
        </p:nvSpPr>
        <p:spPr>
          <a:xfrm>
            <a:off x="875633" y="1585527"/>
            <a:ext cx="7120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vsim</a:t>
            </a:r>
            <a:r>
              <a:rPr lang="it-IT" dirty="0"/>
              <a:t> –</a:t>
            </a:r>
            <a:r>
              <a:rPr lang="it-IT" dirty="0" err="1"/>
              <a:t>debugDB</a:t>
            </a:r>
            <a:r>
              <a:rPr lang="it-IT" dirty="0"/>
              <a:t> «</a:t>
            </a:r>
            <a:r>
              <a:rPr lang="it-IT" dirty="0" err="1"/>
              <a:t>testbench</a:t>
            </a:r>
            <a:r>
              <a:rPr lang="it-IT" dirty="0"/>
              <a:t>»      </a:t>
            </a:r>
            <a:r>
              <a:rPr lang="it-IT" dirty="0" err="1"/>
              <a:t>then</a:t>
            </a:r>
            <a:r>
              <a:rPr lang="it-IT" dirty="0"/>
              <a:t> click on </a:t>
            </a:r>
            <a:r>
              <a:rPr lang="it-IT" dirty="0" err="1"/>
              <a:t>View</a:t>
            </a:r>
            <a:r>
              <a:rPr lang="it-IT" dirty="0"/>
              <a:t>/</a:t>
            </a:r>
            <a:r>
              <a:rPr lang="it-IT" dirty="0" err="1"/>
              <a:t>Schematic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5667"/>
          <a:stretch/>
        </p:blipFill>
        <p:spPr>
          <a:xfrm>
            <a:off x="2161308" y="2043838"/>
            <a:ext cx="8486776" cy="4501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3898" y="1551292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410284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/>
              <a:t>Close </a:t>
            </a:r>
            <a:r>
              <a:rPr lang="it-IT" dirty="0" err="1"/>
              <a:t>simulation</a:t>
            </a:r>
            <a:endParaRPr lang="it-IT" dirty="0"/>
          </a:p>
        </p:txBody>
      </p:sp>
      <p:sp>
        <p:nvSpPr>
          <p:cNvPr id="8" name="TextBox 7"/>
          <p:cNvSpPr txBox="1"/>
          <p:nvPr/>
        </p:nvSpPr>
        <p:spPr>
          <a:xfrm>
            <a:off x="885462" y="1700314"/>
            <a:ext cx="4249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Quit</a:t>
            </a:r>
            <a:r>
              <a:rPr lang="it-IT" dirty="0"/>
              <a:t> –</a:t>
            </a:r>
            <a:r>
              <a:rPr lang="it-IT" dirty="0" err="1"/>
              <a:t>sim</a:t>
            </a:r>
            <a:r>
              <a:rPr lang="it-IT" dirty="0"/>
              <a:t> or Simulate/ End </a:t>
            </a:r>
            <a:r>
              <a:rPr lang="it-IT" dirty="0" err="1"/>
              <a:t>simulation</a:t>
            </a:r>
            <a:endParaRPr lang="it-IT" dirty="0"/>
          </a:p>
        </p:txBody>
      </p:sp>
      <p:sp>
        <p:nvSpPr>
          <p:cNvPr id="6" name="TextBox 5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2813518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Power</a:t>
            </a:r>
            <a:r>
              <a:rPr lang="it-IT" dirty="0"/>
              <a:t> </a:t>
            </a:r>
            <a:r>
              <a:rPr lang="it-IT" dirty="0" err="1"/>
              <a:t>analisys</a:t>
            </a:r>
            <a:endParaRPr lang="it-IT" dirty="0"/>
          </a:p>
        </p:txBody>
      </p:sp>
      <p:sp>
        <p:nvSpPr>
          <p:cNvPr id="5" name="TextBox 4"/>
          <p:cNvSpPr txBox="1"/>
          <p:nvPr/>
        </p:nvSpPr>
        <p:spPr>
          <a:xfrm>
            <a:off x="1219200" y="2258291"/>
            <a:ext cx="85621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Vcd2wlf    file1.vcd	file2.wlf      open file .</a:t>
            </a:r>
            <a:r>
              <a:rPr lang="it-IT" dirty="0" err="1"/>
              <a:t>wlf</a:t>
            </a:r>
            <a:endParaRPr lang="it-IT" dirty="0"/>
          </a:p>
          <a:p>
            <a:endParaRPr lang="it-IT" dirty="0"/>
          </a:p>
          <a:p>
            <a:r>
              <a:rPr lang="en-US" dirty="0"/>
              <a:t>power add </a:t>
            </a:r>
            <a:r>
              <a:rPr lang="en-US" dirty="0" err="1"/>
              <a:t>nsg_noctrl_tb</a:t>
            </a:r>
            <a:r>
              <a:rPr lang="en-US" dirty="0"/>
              <a:t>/DUT/*</a:t>
            </a:r>
          </a:p>
          <a:p>
            <a:r>
              <a:rPr lang="en-US" dirty="0"/>
              <a:t>run 500us</a:t>
            </a:r>
          </a:p>
          <a:p>
            <a:r>
              <a:rPr lang="en-US" dirty="0"/>
              <a:t>power report -all -</a:t>
            </a:r>
            <a:r>
              <a:rPr lang="en-US" dirty="0" err="1"/>
              <a:t>bsaif</a:t>
            </a:r>
            <a:r>
              <a:rPr lang="en-US" dirty="0"/>
              <a:t> </a:t>
            </a:r>
            <a:r>
              <a:rPr lang="en-US" dirty="0" err="1"/>
              <a:t>powerNSG.saif</a:t>
            </a:r>
            <a:endParaRPr lang="en-US" dirty="0"/>
          </a:p>
          <a:p>
            <a:endParaRPr lang="it-IT" dirty="0"/>
          </a:p>
          <a:p>
            <a:endParaRPr lang="it-IT" dirty="0"/>
          </a:p>
          <a:p>
            <a:r>
              <a:rPr lang="it-IT" dirty="0" err="1"/>
              <a:t>vcd</a:t>
            </a:r>
            <a:r>
              <a:rPr lang="it-IT" dirty="0"/>
              <a:t> file </a:t>
            </a:r>
            <a:r>
              <a:rPr lang="it-IT" dirty="0" err="1"/>
              <a:t>powerNSG.vcd</a:t>
            </a:r>
            <a:endParaRPr lang="it-IT" dirty="0"/>
          </a:p>
          <a:p>
            <a:r>
              <a:rPr lang="it-IT" dirty="0" err="1"/>
              <a:t>vcd</a:t>
            </a:r>
            <a:r>
              <a:rPr lang="it-IT" dirty="0"/>
              <a:t> </a:t>
            </a:r>
            <a:r>
              <a:rPr lang="it-IT" dirty="0" err="1"/>
              <a:t>add</a:t>
            </a:r>
            <a:r>
              <a:rPr lang="it-IT" dirty="0"/>
              <a:t> </a:t>
            </a:r>
            <a:r>
              <a:rPr lang="it-IT" dirty="0" err="1"/>
              <a:t>nsg_noctrl_tb</a:t>
            </a:r>
            <a:r>
              <a:rPr lang="it-IT" dirty="0"/>
              <a:t>/DUT/*</a:t>
            </a:r>
          </a:p>
          <a:p>
            <a:endParaRPr lang="it-IT" dirty="0"/>
          </a:p>
          <a:p>
            <a:r>
              <a:rPr lang="it-IT" dirty="0" err="1"/>
              <a:t>coverage</a:t>
            </a:r>
            <a:r>
              <a:rPr lang="it-IT" dirty="0"/>
              <a:t> report -output reportpower.txt -</a:t>
            </a:r>
            <a:r>
              <a:rPr lang="it-IT" dirty="0" err="1"/>
              <a:t>srcfile</a:t>
            </a:r>
            <a:r>
              <a:rPr lang="it-IT" dirty="0"/>
              <a:t>=* -</a:t>
            </a:r>
            <a:r>
              <a:rPr lang="it-IT" dirty="0" err="1"/>
              <a:t>detail</a:t>
            </a:r>
            <a:r>
              <a:rPr lang="it-IT" dirty="0"/>
              <a:t> -</a:t>
            </a:r>
            <a:r>
              <a:rPr lang="it-IT" dirty="0" err="1"/>
              <a:t>all</a:t>
            </a:r>
            <a:r>
              <a:rPr lang="it-IT" dirty="0"/>
              <a:t> -annotate -</a:t>
            </a:r>
            <a:r>
              <a:rPr lang="it-IT" dirty="0" err="1"/>
              <a:t>assert</a:t>
            </a:r>
            <a:r>
              <a:rPr lang="it-IT" dirty="0"/>
              <a:t> -</a:t>
            </a:r>
            <a:r>
              <a:rPr lang="it-IT" dirty="0" err="1"/>
              <a:t>directive</a:t>
            </a:r>
            <a:r>
              <a:rPr lang="it-IT" dirty="0"/>
              <a:t> -</a:t>
            </a:r>
            <a:r>
              <a:rPr lang="it-IT" dirty="0" err="1"/>
              <a:t>cvg</a:t>
            </a:r>
            <a:r>
              <a:rPr lang="it-IT" dirty="0"/>
              <a:t> -</a:t>
            </a:r>
            <a:r>
              <a:rPr lang="it-IT" dirty="0" err="1"/>
              <a:t>pa</a:t>
            </a:r>
            <a:r>
              <a:rPr lang="it-IT" dirty="0"/>
              <a:t> -code 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412195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n on vlsi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170"/>
          <a:stretch/>
        </p:blipFill>
        <p:spPr bwMode="auto">
          <a:xfrm>
            <a:off x="8811491" y="196561"/>
            <a:ext cx="3255530" cy="123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8649" y="812320"/>
            <a:ext cx="5688879" cy="887994"/>
          </a:xfrm>
        </p:spPr>
        <p:txBody>
          <a:bodyPr>
            <a:normAutofit/>
          </a:bodyPr>
          <a:lstStyle/>
          <a:p>
            <a:pPr algn="ctr"/>
            <a:r>
              <a:rPr lang="it-IT" dirty="0" err="1"/>
              <a:t>Power</a:t>
            </a:r>
            <a:r>
              <a:rPr lang="it-IT" dirty="0"/>
              <a:t> </a:t>
            </a:r>
            <a:r>
              <a:rPr lang="it-IT" dirty="0" err="1"/>
              <a:t>analisys</a:t>
            </a:r>
            <a:endParaRPr lang="it-IT" dirty="0"/>
          </a:p>
        </p:txBody>
      </p:sp>
      <p:sp>
        <p:nvSpPr>
          <p:cNvPr id="5" name="TextBox 4"/>
          <p:cNvSpPr txBox="1"/>
          <p:nvPr/>
        </p:nvSpPr>
        <p:spPr>
          <a:xfrm>
            <a:off x="1136072" y="3995678"/>
            <a:ext cx="856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/>
              <a:t>I recommend monitoring internal signals</a:t>
            </a:r>
            <a:endParaRPr lang="it-IT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36" y="1821342"/>
            <a:ext cx="8902236" cy="19282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42109" y="4613564"/>
            <a:ext cx="10390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add -ports -internal -r </a:t>
            </a:r>
            <a:r>
              <a:rPr lang="en-US" dirty="0" err="1"/>
              <a:t>nsg_noctrl_tb</a:t>
            </a:r>
            <a:r>
              <a:rPr lang="en-US" dirty="0"/>
              <a:t>/DUT/</a:t>
            </a:r>
            <a:r>
              <a:rPr lang="en-US" dirty="0" err="1"/>
              <a:t>linexp_gen</a:t>
            </a:r>
            <a:r>
              <a:rPr lang="en-US" dirty="0"/>
              <a:t>/*                  START REG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power report -all -</a:t>
            </a:r>
            <a:r>
              <a:rPr lang="en-US" dirty="0" err="1"/>
              <a:t>bsaif</a:t>
            </a:r>
            <a:r>
              <a:rPr lang="en-US" dirty="0"/>
              <a:t> </a:t>
            </a:r>
            <a:r>
              <a:rPr lang="en-US" dirty="0" err="1"/>
              <a:t>power_analysis_NSG_SG_linexp.saif</a:t>
            </a:r>
            <a:r>
              <a:rPr lang="en-US"/>
              <a:t>                      STOP REG</a:t>
            </a:r>
            <a:endParaRPr lang="it-IT" dirty="0"/>
          </a:p>
        </p:txBody>
      </p:sp>
      <p:sp>
        <p:nvSpPr>
          <p:cNvPr id="8" name="TextBox 7"/>
          <p:cNvSpPr txBox="1"/>
          <p:nvPr/>
        </p:nvSpPr>
        <p:spPr>
          <a:xfrm>
            <a:off x="10080625" y="5956616"/>
            <a:ext cx="270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/>
              <a:t>Enrico Ubaldino</a:t>
            </a:r>
          </a:p>
        </p:txBody>
      </p:sp>
    </p:spTree>
    <p:extLst>
      <p:ext uri="{BB962C8B-B14F-4D97-AF65-F5344CB8AC3E}">
        <p14:creationId xmlns:p14="http://schemas.microsoft.com/office/powerpoint/2010/main" val="1462858774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529</Words>
  <Application>Microsoft Office PowerPoint</Application>
  <PresentationFormat>Widescreen</PresentationFormat>
  <Paragraphs>84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Slice</vt:lpstr>
      <vt:lpstr>Presentazione standard di PowerPoint</vt:lpstr>
      <vt:lpstr>What’s?</vt:lpstr>
      <vt:lpstr>Example Fulladder</vt:lpstr>
      <vt:lpstr>VHDL Code FUlladder</vt:lpstr>
      <vt:lpstr>New project</vt:lpstr>
      <vt:lpstr>Load sources file</vt:lpstr>
      <vt:lpstr>Compile all</vt:lpstr>
      <vt:lpstr>optimize</vt:lpstr>
      <vt:lpstr>Simulation &amp; Add wave</vt:lpstr>
      <vt:lpstr>Tb waveform</vt:lpstr>
      <vt:lpstr>Coverage typeS</vt:lpstr>
      <vt:lpstr>Coverage</vt:lpstr>
      <vt:lpstr>Code coverage icons</vt:lpstr>
      <vt:lpstr>Code coverage 100%</vt:lpstr>
      <vt:lpstr>Html coverage report</vt:lpstr>
      <vt:lpstr>Ucdb coverage report</vt:lpstr>
      <vt:lpstr>What is an Assertion?</vt:lpstr>
      <vt:lpstr>Schematic</vt:lpstr>
      <vt:lpstr>Close simulation</vt:lpstr>
      <vt:lpstr>Power analisys</vt:lpstr>
      <vt:lpstr>Power analisys</vt:lpstr>
    </vt:vector>
  </TitlesOfParts>
  <Company>Airbus Italia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UBALDINO, Enrico (External)</dc:creator>
  <cp:lastModifiedBy>Enrico Ubaldino</cp:lastModifiedBy>
  <cp:revision>50</cp:revision>
  <dcterms:created xsi:type="dcterms:W3CDTF">2021-07-27T10:48:33Z</dcterms:created>
  <dcterms:modified xsi:type="dcterms:W3CDTF">2025-07-26T14:28:25Z</dcterms:modified>
</cp:coreProperties>
</file>
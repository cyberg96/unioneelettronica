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65" r:id="rId4"/>
    <p:sldId id="264" r:id="rId5"/>
    <p:sldId id="259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66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182" autoAdjust="0"/>
  </p:normalViewPr>
  <p:slideViewPr>
    <p:cSldViewPr snapToGrid="0">
      <p:cViewPr varScale="1">
        <p:scale>
          <a:sx n="53" d="100"/>
          <a:sy n="53" d="100"/>
        </p:scale>
        <p:origin x="13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27309-2C2D-401A-B96B-0380A2CA32A0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665A3-6D3F-40F0-932D-4383274644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3192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 err="1"/>
              <a:t>Metadata</a:t>
            </a:r>
            <a:r>
              <a:rPr lang="it-IT" dirty="0"/>
              <a:t>: descrizione strutturale formale del componente indipendente dal fornitore </a:t>
            </a:r>
            <a:r>
              <a:rPr lang="it-IT"/>
              <a:t>del component</a:t>
            </a:r>
            <a:endParaRPr lang="it-IT" dirty="0"/>
          </a:p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F665A3-6D3F-40F0-932D-43832746449A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9432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La libreria può essere gestita meglio quando le dipendenze tra i blocchi IP sono documentate e in questo modo è possibile mostrare chiaramente agli utenti le dipendenze tra i componenti e come un singolo componente è costituito da sotto-componenti.</a:t>
            </a:r>
          </a:p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F665A3-6D3F-40F0-932D-43832746449A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8475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L’editor </a:t>
            </a:r>
            <a:r>
              <a:rPr lang="it-IT" dirty="0" err="1"/>
              <a:t>memory</a:t>
            </a:r>
            <a:r>
              <a:rPr lang="it-IT" baseline="0" dirty="0"/>
              <a:t> </a:t>
            </a:r>
            <a:r>
              <a:rPr lang="it-IT" baseline="0" dirty="0" err="1"/>
              <a:t>map</a:t>
            </a:r>
            <a:r>
              <a:rPr lang="it-IT" baseline="0" dirty="0"/>
              <a:t> è usato per modificare il contenuto della mappa di memoria di un component.</a:t>
            </a:r>
          </a:p>
          <a:p>
            <a:r>
              <a:rPr lang="it-IT" baseline="0" dirty="0"/>
              <a:t>AUB(</a:t>
            </a:r>
            <a:r>
              <a:rPr lang="it-IT" baseline="0" dirty="0" err="1"/>
              <a:t>address</a:t>
            </a:r>
            <a:r>
              <a:rPr lang="it-IT" baseline="0" dirty="0"/>
              <a:t> </a:t>
            </a:r>
            <a:r>
              <a:rPr lang="it-IT" baseline="0" dirty="0" err="1"/>
              <a:t>unit</a:t>
            </a:r>
            <a:r>
              <a:rPr lang="it-IT" baseline="0" dirty="0"/>
              <a:t> bit) definisce la quantità di bit di dati per gli incrementi degli indirizzi. Di default le mappe sono indirizzabili in byte quindi AUB è multiplo di 8bit.</a:t>
            </a:r>
          </a:p>
          <a:p>
            <a:r>
              <a:rPr lang="it-IT" baseline="0" dirty="0"/>
              <a:t>La slave </a:t>
            </a:r>
            <a:r>
              <a:rPr lang="it-IT" baseline="0" dirty="0" err="1"/>
              <a:t>interface</a:t>
            </a:r>
            <a:r>
              <a:rPr lang="it-IT" baseline="0" dirty="0"/>
              <a:t> </a:t>
            </a:r>
            <a:r>
              <a:rPr lang="it-IT" baseline="0" dirty="0" err="1"/>
              <a:t>binding</a:t>
            </a:r>
            <a:r>
              <a:rPr lang="it-IT" baseline="0" dirty="0"/>
              <a:t> è il collegamento tra l’interfaccia slave che è stata associata e il </a:t>
            </a:r>
            <a:r>
              <a:rPr lang="it-IT" baseline="0" dirty="0" err="1"/>
              <a:t>memory</a:t>
            </a:r>
            <a:r>
              <a:rPr lang="it-IT" baseline="0" dirty="0"/>
              <a:t> </a:t>
            </a:r>
            <a:r>
              <a:rPr lang="it-IT" baseline="0" dirty="0" err="1"/>
              <a:t>map</a:t>
            </a:r>
            <a:r>
              <a:rPr lang="it-IT" baseline="0" dirty="0"/>
              <a:t> per accedervi (può essere fatta tramite bus).</a:t>
            </a:r>
          </a:p>
          <a:p>
            <a:r>
              <a:rPr lang="it-IT" baseline="0" dirty="0" err="1"/>
              <a:t>Usage</a:t>
            </a:r>
            <a:r>
              <a:rPr lang="it-IT" baseline="0" dirty="0"/>
              <a:t> serve a specificare l’utilizzo del blocco indirizzi (</a:t>
            </a:r>
            <a:r>
              <a:rPr lang="it-IT" baseline="0" dirty="0" err="1"/>
              <a:t>ROM,RAM,Registri,Reserved</a:t>
            </a:r>
            <a:r>
              <a:rPr lang="it-IT" baseline="0" dirty="0"/>
              <a:t>). </a:t>
            </a:r>
          </a:p>
          <a:p>
            <a:r>
              <a:rPr lang="it-IT" baseline="0" dirty="0"/>
              <a:t>Access specifica come vi si accedere al blocco (R,W, RW).</a:t>
            </a:r>
          </a:p>
          <a:p>
            <a:pPr rtl="0"/>
            <a:endParaRPr lang="it-IT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Spaces: 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Descrive lo spazio indirizzabile visto dalle interfacce bus con modalità interfaccia del master. Questo può essere usato per descrivere l'indirizzo spazio visto da una CPU tramite interfaccia bus. </a:t>
            </a:r>
          </a:p>
          <a:p>
            <a:pPr rtl="0"/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Descrive l'area indirizzabile vista attraverso le interfacce bus con modalità interfaccia slave. </a:t>
            </a:r>
          </a:p>
          <a:p>
            <a:endParaRPr lang="it-IT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F665A3-6D3F-40F0-932D-43832746449A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4835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822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2650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942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1016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4212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396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41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1595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6564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6582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7537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0419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223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4257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5033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289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7857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D1B857B-29B7-4D05-8EBF-D9D85BA571BE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CBF8A15-2519-4C57-B92E-7606FA62DA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34952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ctus2/kactus2dev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012" y="1818409"/>
            <a:ext cx="230505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139498" y="4724536"/>
            <a:ext cx="77031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Open Source Project</a:t>
            </a:r>
          </a:p>
          <a:p>
            <a:r>
              <a:rPr lang="it-IT" dirty="0"/>
              <a:t>Language C++, </a:t>
            </a:r>
            <a:r>
              <a:rPr lang="it-IT" dirty="0" err="1"/>
              <a:t>Python</a:t>
            </a:r>
            <a:endParaRPr lang="it-IT" dirty="0"/>
          </a:p>
          <a:p>
            <a:r>
              <a:rPr lang="it-IT" dirty="0" err="1"/>
              <a:t>GitHub</a:t>
            </a:r>
            <a:r>
              <a:rPr lang="it-IT" dirty="0"/>
              <a:t> </a:t>
            </a:r>
            <a:r>
              <a:rPr lang="it-IT" dirty="0" err="1"/>
              <a:t>Repository</a:t>
            </a:r>
            <a:r>
              <a:rPr lang="it-IT" dirty="0"/>
              <a:t>: </a:t>
            </a:r>
            <a:r>
              <a:rPr lang="it-IT" dirty="0">
                <a:hlinkClick r:id="rId3"/>
              </a:rPr>
              <a:t>https://github.com/kactus2/kactus2dev</a:t>
            </a:r>
            <a:endParaRPr lang="it-IT" dirty="0"/>
          </a:p>
          <a:p>
            <a:endParaRPr lang="it-IT" dirty="0"/>
          </a:p>
          <a:p>
            <a:r>
              <a:rPr lang="it-IT" dirty="0"/>
              <a:t>OS: Linux, Windows, MAC OS</a:t>
            </a:r>
          </a:p>
        </p:txBody>
      </p:sp>
      <p:pic>
        <p:nvPicPr>
          <p:cNvPr id="3" name="Picture 2" descr="LibreUmbria Software libero nella PA - Garr-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99" y="4438525"/>
            <a:ext cx="2457465" cy="17723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80625" y="5956616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3787117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55" y="110837"/>
            <a:ext cx="1754044" cy="17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15486" y="110837"/>
            <a:ext cx="8534400" cy="1163781"/>
          </a:xfrm>
        </p:spPr>
        <p:txBody>
          <a:bodyPr/>
          <a:lstStyle/>
          <a:p>
            <a:pPr algn="ctr"/>
            <a:r>
              <a:rPr lang="it-IT" dirty="0" err="1"/>
              <a:t>What’s</a:t>
            </a:r>
            <a:r>
              <a:rPr lang="it-IT"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418" y="1579418"/>
            <a:ext cx="9656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It is a set of tools for designing embedded products on FPGAs. The goal is to have a «neutral» tool to achieve easier reusability and integration of IP HW and SW.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instrument is based on the IEEE 1685 IP-XACT standard.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20014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55" y="110837"/>
            <a:ext cx="1754044" cy="17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15486" y="110837"/>
            <a:ext cx="8534400" cy="1163781"/>
          </a:xfrm>
        </p:spPr>
        <p:txBody>
          <a:bodyPr/>
          <a:lstStyle/>
          <a:p>
            <a:pPr algn="ctr"/>
            <a:r>
              <a:rPr lang="it-IT" dirty="0"/>
              <a:t>IP-XACT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418" y="1579418"/>
            <a:ext cx="96566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IP-XACT is an XML format, developed by the SPIRIT consortium and approved as IEEE1685 that describes Very-Large-Scale-Integration (VLSI) HW IP blocks to enable automated configuration and integration via tools.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IEEE 1685 "IP-XACT" standardizes component and design descriptions and the overall process. It is used as a standard to communicate with multiple suppliers because it is independent of the design language or tool used (precisely because it is XML and there are no predefined tags).</a:t>
            </a:r>
          </a:p>
          <a:p>
            <a:pPr algn="just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6489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55" y="110837"/>
            <a:ext cx="1754044" cy="17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15485" y="527771"/>
            <a:ext cx="8534400" cy="1163781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What you can do with Kactus2</a:t>
            </a:r>
            <a:endParaRPr lang="it-IT" dirty="0"/>
          </a:p>
        </p:txBody>
      </p:sp>
      <p:sp>
        <p:nvSpPr>
          <p:cNvPr id="3" name="TextBox 2"/>
          <p:cNvSpPr txBox="1"/>
          <p:nvPr/>
        </p:nvSpPr>
        <p:spPr>
          <a:xfrm>
            <a:off x="1000196" y="1691552"/>
            <a:ext cx="9564977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Package IPs for reuse and exchange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Import your existing IPs as IP-XACT components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Create new IP-XACT components and generate their HDL module headers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Reuse IP-XACT files from any standard compatible vendor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Reuse the IPs in your designs and connect them with wires and busses</a:t>
            </a:r>
          </a:p>
          <a:p>
            <a:pPr algn="just"/>
            <a:r>
              <a:rPr lang="en-US" b="1" dirty="0"/>
              <a:t>Create HW designs with hierarchy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Create multilevel hierarchies, where a design has multiple sub-designs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Configure component instances in designs, including the sub-designs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Use generator plugins to create HDL with wiring and parameterization</a:t>
            </a:r>
          </a:p>
          <a:p>
            <a:pPr algn="just"/>
            <a:r>
              <a:rPr lang="en-US" b="1" dirty="0"/>
              <a:t>Integrate HW and SW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Use memory designer to preview memory maps and address spaces in your hierarchy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Package software to IP-XACT components and map them to hardware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Generate </a:t>
            </a:r>
            <a:r>
              <a:rPr lang="en-US" dirty="0" err="1"/>
              <a:t>makefiles</a:t>
            </a:r>
            <a:r>
              <a:rPr lang="en-US" dirty="0"/>
              <a:t> that build executables with rules defined in IP-XACT components.</a:t>
            </a:r>
            <a:endParaRPr lang="it-IT" dirty="0"/>
          </a:p>
          <a:p>
            <a:pPr algn="just">
              <a:lnSpc>
                <a:spcPct val="150000"/>
              </a:lnSpc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62126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55" y="110837"/>
            <a:ext cx="1754044" cy="17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15486" y="110837"/>
            <a:ext cx="8534400" cy="1163781"/>
          </a:xfrm>
        </p:spPr>
        <p:txBody>
          <a:bodyPr/>
          <a:lstStyle/>
          <a:p>
            <a:pPr algn="ctr"/>
            <a:r>
              <a:rPr lang="it-IT" dirty="0" err="1"/>
              <a:t>Why</a:t>
            </a:r>
            <a:r>
              <a:rPr lang="it-IT"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418" y="1579418"/>
            <a:ext cx="56249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Today digital systems, also for the diffusion of </a:t>
            </a:r>
            <a:r>
              <a:rPr lang="en-US" dirty="0" err="1"/>
              <a:t>SoCs</a:t>
            </a:r>
            <a:r>
              <a:rPr lang="en-US" dirty="0"/>
              <a:t>, are increasingly large and complex consisting of several IP-Cores that are difficult to integrate and transportability because traditionally developed in different HDL description languages.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These HW-SW projects contain thousands of files that require adequate management to track changes and keep the code in a compile state.</a:t>
            </a:r>
          </a:p>
          <a:p>
            <a:pPr algn="just"/>
            <a:r>
              <a:rPr lang="en-US" dirty="0"/>
              <a:t>Just consider that a change in one part of the code could damage others to understand that it is a necessary tool to manage dependencies between IP modules and to create new ones.</a:t>
            </a:r>
            <a:endParaRPr lang="it-IT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708" y="2586990"/>
            <a:ext cx="4995647" cy="254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991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55" y="110837"/>
            <a:ext cx="1754044" cy="17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15486" y="110837"/>
            <a:ext cx="8534400" cy="1163781"/>
          </a:xfrm>
        </p:spPr>
        <p:txBody>
          <a:bodyPr/>
          <a:lstStyle/>
          <a:p>
            <a:pPr algn="ctr"/>
            <a:r>
              <a:rPr lang="it-IT" dirty="0"/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197" y="1541715"/>
            <a:ext cx="9564977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standard includes 7 types of IP-XACT formats: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Component</a:t>
            </a:r>
            <a:r>
              <a:rPr lang="en-US" dirty="0"/>
              <a:t> describes a single component in the library. For example the interfaces and files for the component are listed here;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Design</a:t>
            </a:r>
            <a:r>
              <a:rPr lang="en-US" dirty="0"/>
              <a:t> contains a hierarchical design which consists of the components instantiated in this design. It is a kind of textual block diagram of the system;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Design configuration </a:t>
            </a:r>
            <a:r>
              <a:rPr lang="en-US" dirty="0"/>
              <a:t>defines the configurations used in a hierarchical design;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Bus definition </a:t>
            </a:r>
            <a:r>
              <a:rPr lang="en-US" dirty="0"/>
              <a:t>contains the general information of a hardware bus;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Abstraction definition</a:t>
            </a:r>
            <a:r>
              <a:rPr lang="en-US" dirty="0"/>
              <a:t> defines the logical signals and attributes of a hardware bus;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Generator</a:t>
            </a:r>
            <a:r>
              <a:rPr lang="en-US" dirty="0"/>
              <a:t> </a:t>
            </a:r>
            <a:r>
              <a:rPr lang="en-US" b="1" dirty="0"/>
              <a:t>chain</a:t>
            </a:r>
            <a:r>
              <a:rPr lang="en-US" dirty="0"/>
              <a:t> defines a group of scripts that can be used e.g. for automatic configuration of a component;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Abstractor</a:t>
            </a:r>
            <a:r>
              <a:rPr lang="en-US" dirty="0"/>
              <a:t> is used to combine designs from different abstraction levels.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88439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55" y="110837"/>
            <a:ext cx="1754044" cy="17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15485" y="500063"/>
            <a:ext cx="8534400" cy="1163781"/>
          </a:xfrm>
        </p:spPr>
        <p:txBody>
          <a:bodyPr/>
          <a:lstStyle/>
          <a:p>
            <a:pPr algn="ctr"/>
            <a:r>
              <a:rPr lang="it-IT" dirty="0"/>
              <a:t>VLNV-</a:t>
            </a:r>
            <a:r>
              <a:rPr lang="it-IT" dirty="0" err="1"/>
              <a:t>identifier</a:t>
            </a:r>
            <a:endParaRPr lang="it-IT" dirty="0"/>
          </a:p>
        </p:txBody>
      </p:sp>
      <p:sp>
        <p:nvSpPr>
          <p:cNvPr id="3" name="TextBox 2"/>
          <p:cNvSpPr txBox="1"/>
          <p:nvPr/>
        </p:nvSpPr>
        <p:spPr>
          <a:xfrm>
            <a:off x="1000197" y="1541715"/>
            <a:ext cx="95649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Each document creates individual objects in the library. Each object can be uniquely identified by the VLNV identifier formed by the tuple: {Vendor, Library, Name and Version}.</a:t>
            </a:r>
            <a:endParaRPr lang="it-IT" dirty="0"/>
          </a:p>
          <a:p>
            <a:pPr algn="just">
              <a:lnSpc>
                <a:spcPct val="150000"/>
              </a:lnSpc>
            </a:pPr>
            <a:endParaRPr lang="it-IT" dirty="0"/>
          </a:p>
          <a:p>
            <a:pPr algn="just">
              <a:lnSpc>
                <a:spcPct val="150000"/>
              </a:lnSpc>
            </a:pPr>
            <a:endParaRPr lang="it-IT" dirty="0"/>
          </a:p>
          <a:p>
            <a:pPr algn="just">
              <a:lnSpc>
                <a:spcPct val="150000"/>
              </a:lnSpc>
            </a:pPr>
            <a:endParaRPr lang="it-IT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422" y="2859194"/>
            <a:ext cx="3543976" cy="377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9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55" y="110837"/>
            <a:ext cx="1754044" cy="17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15486" y="110837"/>
            <a:ext cx="8534400" cy="1163781"/>
          </a:xfrm>
        </p:spPr>
        <p:txBody>
          <a:bodyPr/>
          <a:lstStyle/>
          <a:p>
            <a:pPr algn="ctr"/>
            <a:r>
              <a:rPr lang="it-IT" dirty="0"/>
              <a:t>Kactus2 </a:t>
            </a:r>
            <a:r>
              <a:rPr lang="it-IT" dirty="0" err="1"/>
              <a:t>tool</a:t>
            </a:r>
            <a:endParaRPr lang="it-IT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268" y="1090285"/>
            <a:ext cx="7990940" cy="547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83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55" y="110837"/>
            <a:ext cx="1754044" cy="17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75510" y="651165"/>
            <a:ext cx="8534400" cy="1163781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Create HW Component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64"/>
          <a:stretch/>
        </p:blipFill>
        <p:spPr>
          <a:xfrm>
            <a:off x="1295400" y="1493695"/>
            <a:ext cx="9626167" cy="520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55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55" y="110837"/>
            <a:ext cx="1754044" cy="17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75510" y="651165"/>
            <a:ext cx="8534400" cy="1163781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Create HW Component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75"/>
          <a:stretch/>
        </p:blipFill>
        <p:spPr>
          <a:xfrm>
            <a:off x="1066801" y="1551710"/>
            <a:ext cx="9351818" cy="508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353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55" y="110837"/>
            <a:ext cx="1754044" cy="17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75510" y="651165"/>
            <a:ext cx="8534400" cy="1163781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Create HW Component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5"/>
          <a:stretch/>
        </p:blipFill>
        <p:spPr>
          <a:xfrm>
            <a:off x="1099382" y="1510146"/>
            <a:ext cx="9286656" cy="500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912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55" y="110837"/>
            <a:ext cx="1754044" cy="17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75510" y="651165"/>
            <a:ext cx="8534400" cy="1163781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Create HW Component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5"/>
          <a:stretch/>
        </p:blipFill>
        <p:spPr>
          <a:xfrm>
            <a:off x="1090701" y="1579418"/>
            <a:ext cx="9341771" cy="505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07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55" y="110837"/>
            <a:ext cx="1754044" cy="17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75510" y="651165"/>
            <a:ext cx="8534400" cy="1163781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Create HW Component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5"/>
          <a:stretch/>
        </p:blipFill>
        <p:spPr>
          <a:xfrm>
            <a:off x="1170710" y="1607127"/>
            <a:ext cx="9144000" cy="494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666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55" y="110837"/>
            <a:ext cx="1754044" cy="17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75510" y="651165"/>
            <a:ext cx="8534400" cy="1163781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Memory </a:t>
            </a:r>
            <a:r>
              <a:rPr lang="it-IT" dirty="0" err="1"/>
              <a:t>map</a:t>
            </a:r>
            <a:endParaRPr lang="it-IT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055" y="1551709"/>
            <a:ext cx="8014855" cy="51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58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55" y="110837"/>
            <a:ext cx="1754044" cy="17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75510" y="651165"/>
            <a:ext cx="8534400" cy="1163781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Memory </a:t>
            </a:r>
            <a:r>
              <a:rPr lang="it-IT" dirty="0" err="1"/>
              <a:t>map</a:t>
            </a:r>
            <a:endParaRPr lang="it-IT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b="4117"/>
          <a:stretch/>
        </p:blipFill>
        <p:spPr>
          <a:xfrm>
            <a:off x="1267691" y="1556991"/>
            <a:ext cx="9571800" cy="516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534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actus2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55" y="110837"/>
            <a:ext cx="1754044" cy="17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75510" y="651165"/>
            <a:ext cx="8534400" cy="1163781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Create </a:t>
            </a:r>
            <a:r>
              <a:rPr lang="it-IT" dirty="0" err="1"/>
              <a:t>Documentation</a:t>
            </a:r>
            <a:endParaRPr lang="it-IT" dirty="0"/>
          </a:p>
        </p:txBody>
      </p:sp>
      <p:sp>
        <p:nvSpPr>
          <p:cNvPr id="3" name="TextBox 2"/>
          <p:cNvSpPr txBox="1"/>
          <p:nvPr/>
        </p:nvSpPr>
        <p:spPr>
          <a:xfrm>
            <a:off x="803564" y="1662545"/>
            <a:ext cx="899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Just click on the Generate Documentation button in the top pane under the Generation category</a:t>
            </a:r>
            <a:endParaRPr lang="it-IT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5210"/>
          <a:stretch/>
        </p:blipFill>
        <p:spPr>
          <a:xfrm>
            <a:off x="2263053" y="2319485"/>
            <a:ext cx="7961602" cy="424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3150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792</Words>
  <Application>Microsoft Office PowerPoint</Application>
  <PresentationFormat>Widescreen</PresentationFormat>
  <Paragraphs>68</Paragraphs>
  <Slides>16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Gothic</vt:lpstr>
      <vt:lpstr>Wingdings 3</vt:lpstr>
      <vt:lpstr>Slice</vt:lpstr>
      <vt:lpstr>Presentazione standard di PowerPoint</vt:lpstr>
      <vt:lpstr>What’s?</vt:lpstr>
      <vt:lpstr>IP-XACT</vt:lpstr>
      <vt:lpstr>What you can do with Kactus2</vt:lpstr>
      <vt:lpstr>Why?</vt:lpstr>
      <vt:lpstr>Standard</vt:lpstr>
      <vt:lpstr>VLNV-identifier</vt:lpstr>
      <vt:lpstr>Kactus2 tool</vt:lpstr>
      <vt:lpstr>Create HW Component</vt:lpstr>
      <vt:lpstr>Create HW Component</vt:lpstr>
      <vt:lpstr>Create HW Component</vt:lpstr>
      <vt:lpstr>Create HW Component</vt:lpstr>
      <vt:lpstr>Create HW Component</vt:lpstr>
      <vt:lpstr>Memory map</vt:lpstr>
      <vt:lpstr>Memory map</vt:lpstr>
      <vt:lpstr>Create Documentation</vt:lpstr>
    </vt:vector>
  </TitlesOfParts>
  <Company>Airbus Italia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UBALDINO, Enrico (External)</dc:creator>
  <cp:lastModifiedBy>Enrico Ubaldino</cp:lastModifiedBy>
  <cp:revision>50</cp:revision>
  <dcterms:created xsi:type="dcterms:W3CDTF">2021-07-26T12:03:16Z</dcterms:created>
  <dcterms:modified xsi:type="dcterms:W3CDTF">2025-12-14T13:45:56Z</dcterms:modified>
</cp:coreProperties>
</file>